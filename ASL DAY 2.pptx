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4" r:id="rId2"/>
    <p:sldMasterId id="2147483772" r:id="rId3"/>
  </p:sldMasterIdLst>
  <p:notesMasterIdLst>
    <p:notesMasterId r:id="rId35"/>
  </p:notesMasterIdLst>
  <p:sldIdLst>
    <p:sldId id="259" r:id="rId4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  <p:sldId id="298" r:id="rId17"/>
    <p:sldId id="301" r:id="rId18"/>
    <p:sldId id="304" r:id="rId19"/>
    <p:sldId id="307" r:id="rId20"/>
    <p:sldId id="310" r:id="rId21"/>
    <p:sldId id="313" r:id="rId22"/>
    <p:sldId id="316" r:id="rId23"/>
    <p:sldId id="319" r:id="rId24"/>
    <p:sldId id="322" r:id="rId25"/>
    <p:sldId id="325" r:id="rId26"/>
    <p:sldId id="328" r:id="rId27"/>
    <p:sldId id="331" r:id="rId28"/>
    <p:sldId id="334" r:id="rId29"/>
    <p:sldId id="337" r:id="rId30"/>
    <p:sldId id="340" r:id="rId31"/>
    <p:sldId id="343" r:id="rId32"/>
    <p:sldId id="346" r:id="rId33"/>
    <p:sldId id="347" r:id="rId34"/>
  </p:sldIdLst>
  <p:sldSz cx="12192000" cy="6858000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>
      <p:cViewPr varScale="1">
        <p:scale>
          <a:sx n="85" d="100"/>
          <a:sy n="85" d="100"/>
        </p:scale>
        <p:origin x="54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417F0-3766-4707-A302-CEFFE59C66B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B7B50-F2DC-477D-B2DD-E5E536812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2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B7B50-F2DC-477D-B2DD-E5E5368126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39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7C84D88-94B9-4310-BC5F-0AAD7E512F9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52F41C7-B4BC-4E6E-8C9C-B19E800FD69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2E5278F-675F-45CB-AFF3-5F94FA9246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AEC94F7-649A-4E4D-ADE7-2EEC4EDB179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E77E16B4-8576-456E-A8E4-900BD118B7F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13950D6-6EE0-4E7C-9DBE-33405B37977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219A76F-FC78-49A9-AC9F-3947B219CF4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71D1E00-2340-4E27-A82A-33899C3DFD0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B456B64-7050-48D8-83C0-76D7F885B9C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5153FDB-63E4-4BF5-BEA7-C609F9D51AB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0AAC1BA-1250-4175-A0CF-5175E03CB93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01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4016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7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66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87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76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/>
            </a:lvl1pPr>
            <a:lvl2pPr marL="571500" indent="-342900">
              <a:buFont typeface="+mj-lt"/>
              <a:buAutoNum type="arabicPeriod"/>
              <a:defRPr lang="en-US" sz="1600"/>
            </a:lvl2pPr>
            <a:lvl3pPr marL="800100" indent="-342900">
              <a:buFont typeface="+mj-lt"/>
              <a:buAutoNum type="arabicPeriod"/>
              <a:defRPr lang="en-US" sz="1600"/>
            </a:lvl3pPr>
            <a:lvl4pPr>
              <a:buFont typeface="+mj-lt"/>
              <a:buAutoNum type="arabicPeriod"/>
              <a:defRPr lang="en-US" sz="1600"/>
            </a:lvl4pPr>
            <a:lvl5pPr>
              <a:buFont typeface="+mj-lt"/>
              <a:buAutoNum type="arabicPeriod"/>
              <a:defRPr lang="en-US"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0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/>
            </a:lvl1pPr>
            <a:lvl2pPr marL="571500" indent="-342900">
              <a:buFont typeface="+mj-lt"/>
              <a:buAutoNum type="arabicPeriod"/>
              <a:defRPr lang="en-US" sz="1400"/>
            </a:lvl2pPr>
            <a:lvl3pPr marL="800100" indent="-342900">
              <a:buFont typeface="+mj-lt"/>
              <a:buAutoNum type="arabicPeriod"/>
              <a:defRPr lang="en-US" sz="1400"/>
            </a:lvl3pPr>
            <a:lvl4pPr>
              <a:buFont typeface="+mj-lt"/>
              <a:buAutoNum type="arabicPeriod"/>
              <a:defRPr lang="en-US" sz="1400"/>
            </a:lvl4pPr>
            <a:lvl5pPr>
              <a:buFont typeface="+mj-lt"/>
              <a:buAutoNum type="arabicPeriod"/>
              <a:defRPr lang="en-US" sz="140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69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165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5867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6687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0944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930907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3972281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75501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5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480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737104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itchFamily="34" charset="0"/>
              <a:buChar char="•"/>
              <a:defRPr sz="1400"/>
            </a:lvl1pPr>
            <a:lvl2pPr marL="514350" indent="-285750">
              <a:buFont typeface="Arial" pitchFamily="34" charset="0"/>
              <a:buChar char="•"/>
              <a:defRPr sz="1400"/>
            </a:lvl2pPr>
            <a:lvl3pPr marL="742950" indent="-285750">
              <a:buFont typeface="Arial" pitchFamily="34" charset="0"/>
              <a:buChar char="•"/>
              <a:defRPr sz="1400"/>
            </a:lvl3pPr>
            <a:lvl4pPr marL="857250" indent="-171450">
              <a:buFont typeface="Arial" pitchFamily="34" charset="0"/>
              <a:buChar char="•"/>
              <a:defRPr sz="1400"/>
            </a:lvl4pPr>
            <a:lvl5pPr marL="1085850" indent="-171450"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4047001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74102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1459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3933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5000" spc="-50" baseline="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3951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4800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32670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48935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1993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1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/>
            </a:lvl1pPr>
            <a:lvl2pPr marL="228600" indent="0" algn="ctr">
              <a:buNone/>
              <a:defRPr lang="en-US" sz="1600"/>
            </a:lvl2pPr>
            <a:lvl3pPr marL="457200" indent="0" algn="ctr">
              <a:buNone/>
              <a:defRPr lang="en-US" sz="1600"/>
            </a:lvl3pPr>
            <a:lvl4pPr marL="685800" indent="0" algn="ctr">
              <a:buNone/>
              <a:defRPr lang="en-US" sz="1600"/>
            </a:lvl4pPr>
            <a:lvl5pPr marL="914400" indent="0" algn="ctr">
              <a:buNone/>
              <a:defRPr lang="en-US"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13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01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4016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7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66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87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76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/>
            </a:lvl1pPr>
            <a:lvl2pPr marL="571500" indent="-342900">
              <a:buFont typeface="+mj-lt"/>
              <a:buAutoNum type="arabicPeriod"/>
              <a:defRPr lang="en-US" sz="1600"/>
            </a:lvl2pPr>
            <a:lvl3pPr marL="800100" indent="-342900">
              <a:buFont typeface="+mj-lt"/>
              <a:buAutoNum type="arabicPeriod"/>
              <a:defRPr lang="en-US" sz="1600"/>
            </a:lvl3pPr>
            <a:lvl4pPr>
              <a:buFont typeface="+mj-lt"/>
              <a:buAutoNum type="arabicPeriod"/>
              <a:defRPr lang="en-US" sz="1600"/>
            </a:lvl4pPr>
            <a:lvl5pPr>
              <a:buFont typeface="+mj-lt"/>
              <a:buAutoNum type="arabicPeriod"/>
              <a:defRPr lang="en-US"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0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/>
            </a:lvl1pPr>
            <a:lvl2pPr marL="571500" indent="-342900">
              <a:buFont typeface="+mj-lt"/>
              <a:buAutoNum type="arabicPeriod"/>
              <a:defRPr lang="en-US" sz="1400"/>
            </a:lvl2pPr>
            <a:lvl3pPr marL="800100" indent="-342900">
              <a:buFont typeface="+mj-lt"/>
              <a:buAutoNum type="arabicPeriod"/>
              <a:defRPr lang="en-US" sz="1400"/>
            </a:lvl3pPr>
            <a:lvl4pPr>
              <a:buFont typeface="+mj-lt"/>
              <a:buAutoNum type="arabicPeriod"/>
              <a:defRPr lang="en-US" sz="1400"/>
            </a:lvl4pPr>
            <a:lvl5pPr>
              <a:buFont typeface="+mj-lt"/>
              <a:buAutoNum type="arabicPeriod"/>
              <a:defRPr lang="en-US" sz="140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69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1653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5867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66875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09447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9309077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3972281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75501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5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4800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7371046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itchFamily="34" charset="0"/>
              <a:buChar char="•"/>
              <a:defRPr sz="1400"/>
            </a:lvl1pPr>
            <a:lvl2pPr marL="514350" indent="-285750">
              <a:buFont typeface="Arial" pitchFamily="34" charset="0"/>
              <a:buChar char="•"/>
              <a:defRPr sz="1400"/>
            </a:lvl2pPr>
            <a:lvl3pPr marL="742950" indent="-285750">
              <a:buFont typeface="Arial" pitchFamily="34" charset="0"/>
              <a:buChar char="•"/>
              <a:defRPr sz="1400"/>
            </a:lvl3pPr>
            <a:lvl4pPr marL="857250" indent="-171450">
              <a:buFont typeface="Arial" pitchFamily="34" charset="0"/>
              <a:buChar char="•"/>
              <a:defRPr sz="1400"/>
            </a:lvl4pPr>
            <a:lvl5pPr marL="1085850" indent="-171450"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4047001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74102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14592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3933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5000" spc="-50" baseline="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3951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48004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32670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48935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19939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1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/>
            </a:lvl1pPr>
            <a:lvl2pPr marL="228600" indent="0" algn="ctr">
              <a:buNone/>
              <a:defRPr lang="en-US" sz="1600"/>
            </a:lvl2pPr>
            <a:lvl3pPr marL="457200" indent="0" algn="ctr">
              <a:buNone/>
              <a:defRPr lang="en-US" sz="1600"/>
            </a:lvl3pPr>
            <a:lvl4pPr marL="685800" indent="0" algn="ctr">
              <a:buNone/>
              <a:defRPr lang="en-US" sz="1600"/>
            </a:lvl4pPr>
            <a:lvl5pPr marL="914400" indent="0" algn="ctr">
              <a:buNone/>
              <a:defRPr lang="en-US"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13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7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ransition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4DD979-1598-4200-A8AB-6501EA92ED7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2CBA10-BE40-4889-AA92-746E5A4B8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7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transition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AE58A1D2-32E3-6718-373B-A9C8E9962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6859023C-7A4E-0F22-6A0F-B2F150EDBA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730643-5C86-1FCF-491B-3F07CDE5626B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Question &amp; Answer </a:t>
            </a:r>
          </a:p>
        </p:txBody>
      </p:sp>
      <p:sp>
        <p:nvSpPr>
          <p:cNvPr id="11" name="Flowchart: Punched Tape 10">
            <a:extLst>
              <a:ext uri="{FF2B5EF4-FFF2-40B4-BE49-F238E27FC236}">
                <a16:creationId xmlns:a16="http://schemas.microsoft.com/office/drawing/2014/main" id="{906F0D75-D70C-B61B-83AE-0569C827559E}"/>
              </a:ext>
            </a:extLst>
          </p:cNvPr>
          <p:cNvSpPr/>
          <p:nvPr/>
        </p:nvSpPr>
        <p:spPr>
          <a:xfrm>
            <a:off x="1607341" y="210312"/>
            <a:ext cx="1019557" cy="578535"/>
          </a:xfrm>
          <a:prstGeom prst="flowChartPunchedTap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  <a:r>
              <a:rPr lang="en-US" baseline="30000">
                <a:solidFill>
                  <a:schemeClr val="bg1"/>
                </a:solidFill>
              </a:rPr>
              <a:t>nd</a:t>
            </a:r>
            <a:r>
              <a:rPr lang="en-US">
                <a:solidFill>
                  <a:schemeClr val="bg1"/>
                </a:solidFill>
              </a:rPr>
              <a:t> day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9E5EA-7121-5D76-F4CE-9320A8D0F937}"/>
              </a:ext>
            </a:extLst>
          </p:cNvPr>
          <p:cNvSpPr txBox="1"/>
          <p:nvPr/>
        </p:nvSpPr>
        <p:spPr>
          <a:xfrm>
            <a:off x="1026698" y="1463040"/>
            <a:ext cx="96077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Since when did this start on our campus?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Use of Microcontroller 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Embedded Systems Engineering career guidelines 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Industry collaboration and  opportunity form Alpha Science LAB?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Why is our in-house developed microcontroller a more cost-effective long-term solution for high-volume projects?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Can we using AI in Development 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Can we use in computer and laptop 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GPIO 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Firmware details?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RISV-V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Hadi-V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/>
              <a:t>SWADHEEN Microcontroller ?</a:t>
            </a:r>
          </a:p>
          <a:p>
            <a:pPr marL="342900" indent="-342900">
              <a:buAutoNum type="arabicPeriod"/>
            </a:pPr>
            <a:endParaRPr lang="en-US"/>
          </a:p>
          <a:p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786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FF52-05DC-068D-CB52-A76E6A13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DE10A15C-907E-F2F3-A0DA-E2A741D05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5CF81FF6-BF17-E63C-BBA9-433C5490D6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3BEF0F5-4D18-486B-4BCC-4744E8FF0F29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Fundamentals of C++ for Hardware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5D8B-7CFA-4C88-0F13-40B35339B864}"/>
              </a:ext>
            </a:extLst>
          </p:cNvPr>
          <p:cNvSpPr txBox="1"/>
          <p:nvPr/>
        </p:nvSpPr>
        <p:spPr>
          <a:xfrm>
            <a:off x="810698" y="1966500"/>
            <a:ext cx="8046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What is variable ?Memory As storage box!</a:t>
            </a:r>
          </a:p>
        </p:txBody>
      </p:sp>
      <p:sp>
        <p:nvSpPr>
          <p:cNvPr id="6" name="Star: 6 Points 5">
            <a:extLst>
              <a:ext uri="{FF2B5EF4-FFF2-40B4-BE49-F238E27FC236}">
                <a16:creationId xmlns:a16="http://schemas.microsoft.com/office/drawing/2014/main" id="{7929D739-7627-5F7B-94A7-86E020BCE459}"/>
              </a:ext>
            </a:extLst>
          </p:cNvPr>
          <p:cNvSpPr/>
          <p:nvPr/>
        </p:nvSpPr>
        <p:spPr>
          <a:xfrm>
            <a:off x="493776" y="1545336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Star: 6 Points 13">
            <a:extLst>
              <a:ext uri="{FF2B5EF4-FFF2-40B4-BE49-F238E27FC236}">
                <a16:creationId xmlns:a16="http://schemas.microsoft.com/office/drawing/2014/main" id="{17B68B14-0455-B907-2EE6-B6C4CFEA39C6}"/>
              </a:ext>
            </a:extLst>
          </p:cNvPr>
          <p:cNvSpPr/>
          <p:nvPr/>
        </p:nvSpPr>
        <p:spPr>
          <a:xfrm>
            <a:off x="455198" y="1971485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Star: 6 Points 15">
            <a:extLst>
              <a:ext uri="{FF2B5EF4-FFF2-40B4-BE49-F238E27FC236}">
                <a16:creationId xmlns:a16="http://schemas.microsoft.com/office/drawing/2014/main" id="{8666E839-B5C2-6DCF-7642-5D2CD3983EDE}"/>
              </a:ext>
            </a:extLst>
          </p:cNvPr>
          <p:cNvSpPr/>
          <p:nvPr/>
        </p:nvSpPr>
        <p:spPr>
          <a:xfrm>
            <a:off x="493776" y="2440742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Star: 6 Points 17">
            <a:extLst>
              <a:ext uri="{FF2B5EF4-FFF2-40B4-BE49-F238E27FC236}">
                <a16:creationId xmlns:a16="http://schemas.microsoft.com/office/drawing/2014/main" id="{1BB3F56B-5B7C-6E53-CEF1-A95CB4458E85}"/>
              </a:ext>
            </a:extLst>
          </p:cNvPr>
          <p:cNvSpPr/>
          <p:nvPr/>
        </p:nvSpPr>
        <p:spPr>
          <a:xfrm rot="21358596">
            <a:off x="480787" y="2877759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Star: 6 Points 19">
            <a:extLst>
              <a:ext uri="{FF2B5EF4-FFF2-40B4-BE49-F238E27FC236}">
                <a16:creationId xmlns:a16="http://schemas.microsoft.com/office/drawing/2014/main" id="{8F24A33C-2EFE-D803-441B-01AF1D89212B}"/>
              </a:ext>
            </a:extLst>
          </p:cNvPr>
          <p:cNvSpPr/>
          <p:nvPr/>
        </p:nvSpPr>
        <p:spPr>
          <a:xfrm>
            <a:off x="470916" y="3297432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Star: 6 Points 21">
            <a:extLst>
              <a:ext uri="{FF2B5EF4-FFF2-40B4-BE49-F238E27FC236}">
                <a16:creationId xmlns:a16="http://schemas.microsoft.com/office/drawing/2014/main" id="{44762BFF-F0CB-1F33-9B6A-51D144EE2193}"/>
              </a:ext>
            </a:extLst>
          </p:cNvPr>
          <p:cNvSpPr/>
          <p:nvPr/>
        </p:nvSpPr>
        <p:spPr>
          <a:xfrm>
            <a:off x="470916" y="3736696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Star: 6 Points 23">
            <a:extLst>
              <a:ext uri="{FF2B5EF4-FFF2-40B4-BE49-F238E27FC236}">
                <a16:creationId xmlns:a16="http://schemas.microsoft.com/office/drawing/2014/main" id="{EB1E1CC4-AC51-611B-E31D-E669E7634F86}"/>
              </a:ext>
            </a:extLst>
          </p:cNvPr>
          <p:cNvSpPr/>
          <p:nvPr/>
        </p:nvSpPr>
        <p:spPr>
          <a:xfrm>
            <a:off x="452150" y="4174159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Star: 6 Points 25">
            <a:extLst>
              <a:ext uri="{FF2B5EF4-FFF2-40B4-BE49-F238E27FC236}">
                <a16:creationId xmlns:a16="http://schemas.microsoft.com/office/drawing/2014/main" id="{240F5DE0-8E86-C654-2B13-14BB5DA2A1D3}"/>
              </a:ext>
            </a:extLst>
          </p:cNvPr>
          <p:cNvSpPr/>
          <p:nvPr/>
        </p:nvSpPr>
        <p:spPr>
          <a:xfrm>
            <a:off x="452150" y="4729620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Star: 6 Points 27">
            <a:extLst>
              <a:ext uri="{FF2B5EF4-FFF2-40B4-BE49-F238E27FC236}">
                <a16:creationId xmlns:a16="http://schemas.microsoft.com/office/drawing/2014/main" id="{B62302F3-E801-763C-E55F-989254C3D9CE}"/>
              </a:ext>
            </a:extLst>
          </p:cNvPr>
          <p:cNvSpPr/>
          <p:nvPr/>
        </p:nvSpPr>
        <p:spPr>
          <a:xfrm>
            <a:off x="452150" y="5206089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Star: 6 Points 29">
            <a:extLst>
              <a:ext uri="{FF2B5EF4-FFF2-40B4-BE49-F238E27FC236}">
                <a16:creationId xmlns:a16="http://schemas.microsoft.com/office/drawing/2014/main" id="{5256DFF7-8218-7460-D807-9F3878C8217D}"/>
              </a:ext>
            </a:extLst>
          </p:cNvPr>
          <p:cNvSpPr/>
          <p:nvPr/>
        </p:nvSpPr>
        <p:spPr>
          <a:xfrm>
            <a:off x="452150" y="5670833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Star: 6 Points 31">
            <a:extLst>
              <a:ext uri="{FF2B5EF4-FFF2-40B4-BE49-F238E27FC236}">
                <a16:creationId xmlns:a16="http://schemas.microsoft.com/office/drawing/2014/main" id="{01D04344-03F5-0D50-DFA8-7659ACEF1B1C}"/>
              </a:ext>
            </a:extLst>
          </p:cNvPr>
          <p:cNvSpPr/>
          <p:nvPr/>
        </p:nvSpPr>
        <p:spPr>
          <a:xfrm>
            <a:off x="452150" y="6112173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EB146-E07D-0A3F-DD78-AC79F7ACFC41}"/>
              </a:ext>
            </a:extLst>
          </p:cNvPr>
          <p:cNvSpPr txBox="1"/>
          <p:nvPr/>
        </p:nvSpPr>
        <p:spPr>
          <a:xfrm>
            <a:off x="813816" y="2447527"/>
            <a:ext cx="647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What is data type and Data type in C++?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0C25B4-1057-0CDF-3738-90EE5D3962AE}"/>
              </a:ext>
            </a:extLst>
          </p:cNvPr>
          <p:cNvSpPr txBox="1"/>
          <p:nvPr/>
        </p:nvSpPr>
        <p:spPr>
          <a:xfrm>
            <a:off x="914684" y="1480790"/>
            <a:ext cx="5778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Why use C++ why not C?</a:t>
            </a: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E139B-46D2-0F12-F369-CDC79C81BDBC}"/>
              </a:ext>
            </a:extLst>
          </p:cNvPr>
          <p:cNvSpPr txBox="1"/>
          <p:nvPr/>
        </p:nvSpPr>
        <p:spPr>
          <a:xfrm>
            <a:off x="810698" y="2839397"/>
            <a:ext cx="3953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Best practice of Const keyword!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B88CF-BD3E-CD5C-1F23-D58929A11B92}"/>
              </a:ext>
            </a:extLst>
          </p:cNvPr>
          <p:cNvSpPr txBox="1"/>
          <p:nvPr/>
        </p:nvSpPr>
        <p:spPr>
          <a:xfrm>
            <a:off x="772190" y="3698454"/>
            <a:ext cx="456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Arithmetic operator  &amp; Integer Division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A8FA1-03DC-0615-7101-EFD3BC437BA0}"/>
              </a:ext>
            </a:extLst>
          </p:cNvPr>
          <p:cNvSpPr txBox="1"/>
          <p:nvPr/>
        </p:nvSpPr>
        <p:spPr>
          <a:xfrm>
            <a:off x="810698" y="4162926"/>
            <a:ext cx="478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Logical Operator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A6D460-50E7-D079-0E79-7B1F7B69BEBD}"/>
              </a:ext>
            </a:extLst>
          </p:cNvPr>
          <p:cNvSpPr txBox="1"/>
          <p:nvPr/>
        </p:nvSpPr>
        <p:spPr>
          <a:xfrm>
            <a:off x="914684" y="3301165"/>
            <a:ext cx="276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Operator?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FE761-DAF2-6589-A54A-72D271E34E9D}"/>
              </a:ext>
            </a:extLst>
          </p:cNvPr>
          <p:cNvSpPr txBox="1"/>
          <p:nvPr/>
        </p:nvSpPr>
        <p:spPr>
          <a:xfrm>
            <a:off x="740805" y="4688025"/>
            <a:ext cx="488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Decision making if else and switch case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1FE0D2-4D90-5F1C-EDD3-BD14A09B6251}"/>
              </a:ext>
            </a:extLst>
          </p:cNvPr>
          <p:cNvSpPr txBox="1"/>
          <p:nvPr/>
        </p:nvSpPr>
        <p:spPr>
          <a:xfrm>
            <a:off x="740805" y="5231482"/>
            <a:ext cx="419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Different between switch 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60E17E-8D64-FFC7-78D6-9F5E97B20B2C}"/>
              </a:ext>
            </a:extLst>
          </p:cNvPr>
          <p:cNvSpPr txBox="1"/>
          <p:nvPr/>
        </p:nvSpPr>
        <p:spPr>
          <a:xfrm>
            <a:off x="790956" y="6118138"/>
            <a:ext cx="201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All Type of Loop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0852B8-0864-D6BE-3E36-30AA4C0561B9}"/>
              </a:ext>
            </a:extLst>
          </p:cNvPr>
          <p:cNvSpPr txBox="1"/>
          <p:nvPr/>
        </p:nvSpPr>
        <p:spPr>
          <a:xfrm>
            <a:off x="740805" y="5647429"/>
            <a:ext cx="419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Use of volatile key word </a:t>
            </a:r>
          </a:p>
        </p:txBody>
      </p:sp>
    </p:spTree>
    <p:extLst>
      <p:ext uri="{BB962C8B-B14F-4D97-AF65-F5344CB8AC3E}">
        <p14:creationId xmlns:p14="http://schemas.microsoft.com/office/powerpoint/2010/main" val="18364718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0F43-AD55-C2C2-DFF5-E84347BF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8938BA12-802C-1C7B-015E-8A7954967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A3476FD5-D62F-1F1B-68BF-91C8C8B4A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Star: 6 Points 2">
            <a:extLst>
              <a:ext uri="{FF2B5EF4-FFF2-40B4-BE49-F238E27FC236}">
                <a16:creationId xmlns:a16="http://schemas.microsoft.com/office/drawing/2014/main" id="{1BDC4C9A-768B-764A-0D7C-89ED17FDA86D}"/>
              </a:ext>
            </a:extLst>
          </p:cNvPr>
          <p:cNvSpPr/>
          <p:nvPr/>
        </p:nvSpPr>
        <p:spPr>
          <a:xfrm>
            <a:off x="804957" y="1394383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Star: 6 Points 5">
            <a:extLst>
              <a:ext uri="{FF2B5EF4-FFF2-40B4-BE49-F238E27FC236}">
                <a16:creationId xmlns:a16="http://schemas.microsoft.com/office/drawing/2014/main" id="{8FAD1219-FB64-5C85-F47C-D08F97C386A1}"/>
              </a:ext>
            </a:extLst>
          </p:cNvPr>
          <p:cNvSpPr/>
          <p:nvPr/>
        </p:nvSpPr>
        <p:spPr>
          <a:xfrm>
            <a:off x="820480" y="1839391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Star: 6 Points 8">
            <a:extLst>
              <a:ext uri="{FF2B5EF4-FFF2-40B4-BE49-F238E27FC236}">
                <a16:creationId xmlns:a16="http://schemas.microsoft.com/office/drawing/2014/main" id="{D8128409-604C-7CC9-E5EB-96651282F9A7}"/>
              </a:ext>
            </a:extLst>
          </p:cNvPr>
          <p:cNvSpPr/>
          <p:nvPr/>
        </p:nvSpPr>
        <p:spPr>
          <a:xfrm>
            <a:off x="804957" y="2232737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Star: 6 Points 12">
            <a:extLst>
              <a:ext uri="{FF2B5EF4-FFF2-40B4-BE49-F238E27FC236}">
                <a16:creationId xmlns:a16="http://schemas.microsoft.com/office/drawing/2014/main" id="{74FC5983-3DF4-FFA1-667C-28CC3FAD5A23}"/>
              </a:ext>
            </a:extLst>
          </p:cNvPr>
          <p:cNvSpPr/>
          <p:nvPr/>
        </p:nvSpPr>
        <p:spPr>
          <a:xfrm>
            <a:off x="809051" y="2626083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Star: 6 Points 14">
            <a:extLst>
              <a:ext uri="{FF2B5EF4-FFF2-40B4-BE49-F238E27FC236}">
                <a16:creationId xmlns:a16="http://schemas.microsoft.com/office/drawing/2014/main" id="{65922D39-BC90-6241-51C3-33E3C861A525}"/>
              </a:ext>
            </a:extLst>
          </p:cNvPr>
          <p:cNvSpPr/>
          <p:nvPr/>
        </p:nvSpPr>
        <p:spPr>
          <a:xfrm>
            <a:off x="804957" y="3120167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Star: 6 Points 16">
            <a:extLst>
              <a:ext uri="{FF2B5EF4-FFF2-40B4-BE49-F238E27FC236}">
                <a16:creationId xmlns:a16="http://schemas.microsoft.com/office/drawing/2014/main" id="{3D97ABCF-8ED4-AD23-8E5D-A04E473FDB8A}"/>
              </a:ext>
            </a:extLst>
          </p:cNvPr>
          <p:cNvSpPr/>
          <p:nvPr/>
        </p:nvSpPr>
        <p:spPr>
          <a:xfrm>
            <a:off x="804957" y="3602429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Star: 6 Points 18">
            <a:extLst>
              <a:ext uri="{FF2B5EF4-FFF2-40B4-BE49-F238E27FC236}">
                <a16:creationId xmlns:a16="http://schemas.microsoft.com/office/drawing/2014/main" id="{B4D7AAC3-8B1C-7F55-E5D4-889962C4398B}"/>
              </a:ext>
            </a:extLst>
          </p:cNvPr>
          <p:cNvSpPr/>
          <p:nvPr/>
        </p:nvSpPr>
        <p:spPr>
          <a:xfrm>
            <a:off x="798383" y="4047591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Star: 6 Points 20">
            <a:extLst>
              <a:ext uri="{FF2B5EF4-FFF2-40B4-BE49-F238E27FC236}">
                <a16:creationId xmlns:a16="http://schemas.microsoft.com/office/drawing/2014/main" id="{0B3AD7A3-911F-2971-96D8-DB1CDD9962D2}"/>
              </a:ext>
            </a:extLst>
          </p:cNvPr>
          <p:cNvSpPr/>
          <p:nvPr/>
        </p:nvSpPr>
        <p:spPr>
          <a:xfrm>
            <a:off x="797905" y="4529853"/>
            <a:ext cx="320040" cy="292608"/>
          </a:xfrm>
          <a:prstGeom prst="star6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AA96FC-CC7D-E2E1-CBCD-97024C0DC54D}"/>
              </a:ext>
            </a:extLst>
          </p:cNvPr>
          <p:cNvSpPr txBox="1"/>
          <p:nvPr/>
        </p:nvSpPr>
        <p:spPr>
          <a:xfrm>
            <a:off x="1140520" y="1369321"/>
            <a:ext cx="319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Function 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62A934-7F14-EC54-0BF5-746F7578FEF5}"/>
              </a:ext>
            </a:extLst>
          </p:cNvPr>
          <p:cNvSpPr txBox="1"/>
          <p:nvPr/>
        </p:nvSpPr>
        <p:spPr>
          <a:xfrm>
            <a:off x="1156042" y="1789976"/>
            <a:ext cx="4366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Call by value and call by reference 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FB7DE1-0A7E-3537-BB03-5847C9EFF69E}"/>
              </a:ext>
            </a:extLst>
          </p:cNvPr>
          <p:cNvSpPr txBox="1"/>
          <p:nvPr/>
        </p:nvSpPr>
        <p:spPr>
          <a:xfrm>
            <a:off x="1117945" y="2606440"/>
            <a:ext cx="341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Array?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954244-F7A0-790D-1E9A-342AB5B6A8C0}"/>
              </a:ext>
            </a:extLst>
          </p:cNvPr>
          <p:cNvSpPr txBox="1"/>
          <p:nvPr/>
        </p:nvSpPr>
        <p:spPr>
          <a:xfrm>
            <a:off x="1160899" y="3081805"/>
            <a:ext cx="186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String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C6C44E-1D60-3102-CF58-0C0562C93F79}"/>
              </a:ext>
            </a:extLst>
          </p:cNvPr>
          <p:cNvSpPr txBox="1"/>
          <p:nvPr/>
        </p:nvSpPr>
        <p:spPr>
          <a:xfrm>
            <a:off x="1124997" y="3588574"/>
            <a:ext cx="174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Pointer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E9F10B-D7B8-3CB9-B6A3-3AEAA99FE447}"/>
              </a:ext>
            </a:extLst>
          </p:cNvPr>
          <p:cNvSpPr txBox="1"/>
          <p:nvPr/>
        </p:nvSpPr>
        <p:spPr>
          <a:xfrm>
            <a:off x="1117945" y="4009229"/>
            <a:ext cx="357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Real life example of pointer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A50CB-C712-B246-6DF1-9D9458B64169}"/>
              </a:ext>
            </a:extLst>
          </p:cNvPr>
          <p:cNvSpPr txBox="1"/>
          <p:nvPr/>
        </p:nvSpPr>
        <p:spPr>
          <a:xfrm>
            <a:off x="1271016" y="2232737"/>
            <a:ext cx="469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Function prologue &amp;Function epilogue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DC822F-5553-8227-C2EA-4F8738152A0A}"/>
              </a:ext>
            </a:extLst>
          </p:cNvPr>
          <p:cNvSpPr txBox="1"/>
          <p:nvPr/>
        </p:nvSpPr>
        <p:spPr>
          <a:xfrm>
            <a:off x="1140519" y="4515998"/>
            <a:ext cx="416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Arduino Code vs  SWADHEEN </a:t>
            </a:r>
          </a:p>
        </p:txBody>
      </p:sp>
    </p:spTree>
    <p:extLst>
      <p:ext uri="{BB962C8B-B14F-4D97-AF65-F5344CB8AC3E}">
        <p14:creationId xmlns:p14="http://schemas.microsoft.com/office/powerpoint/2010/main" val="34889975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7486-93B5-C506-E084-D162045A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AB22134D-3D41-CC64-847F-9C9D59576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A001CFB0-5451-E585-53E5-6E7A0ECBE9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C8EB1E-0C75-4F00-0B01-0EB9C1500402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Why use C++ why not C?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2962656" cy="190195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Zero-Cost Abstractions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1691640"/>
            <a:ext cx="2962656" cy="19019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Type Safety &amp; Encapsulation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1691640"/>
            <a:ext cx="2962656" cy="19019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🔧 Flexible Hardware Drivers</a:t>
            </a:r>
          </a:p>
        </p:txBody>
      </p:sp>
    </p:spTree>
    <p:extLst>
      <p:ext uri="{BB962C8B-B14F-4D97-AF65-F5344CB8AC3E}">
        <p14:creationId xmlns:p14="http://schemas.microsoft.com/office/powerpoint/2010/main" val="28822829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131A7-B855-C629-EA0F-DA553688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8EEE8417-E26C-83D4-7499-F0B8C40C8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75FF2887-8705-F788-6D8E-00FA501C6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9062A-B5D0-8E1D-30F7-4DBC0468B3A1}"/>
              </a:ext>
            </a:extLst>
          </p:cNvPr>
          <p:cNvSpPr/>
          <p:nvPr/>
        </p:nvSpPr>
        <p:spPr>
          <a:xfrm>
            <a:off x="3557016" y="384048"/>
            <a:ext cx="5367528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What is variable ? Memory As storage box!</a:t>
            </a:r>
          </a:p>
        </p:txBody>
      </p:sp>
      <p:pic>
        <p:nvPicPr>
          <p:cNvPr id="11" name="Picture 10" descr="mcu_memory_ram_box_17871313466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63040"/>
            <a:ext cx="5180990" cy="4754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1150" y="1572768"/>
            <a:ext cx="481523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38BDF8"/>
                </a:solidFill>
                <a:latin typeface="Consolas"/>
              </a:defRPr>
            </a:pPr>
            <a:r>
              <a:t>// RAM Storage &amp; Variable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150" y="1865376"/>
            <a:ext cx="4815230" cy="42428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Variable Declaration in RAM Memory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bool statusFlag = true;   // 1 Byte RAM (0x20000000)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 adcValue = 1024; // 2 Bytes RAM (0x20000002)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float temperature = 23.5; // 4 Bytes RAM (0x20000004)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Variable Mutation &amp; RAM Update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adcValue = 2048;          // Updates RAM bits directly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statusFlag = false;       // Toggles bit 0 in memory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Best Practice for Microcontrollers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const int PIN = 5;        // Read-only (Stored in Flash ROM)</a:t>
            </a:r>
          </a:p>
        </p:txBody>
      </p:sp>
    </p:spTree>
    <p:extLst>
      <p:ext uri="{BB962C8B-B14F-4D97-AF65-F5344CB8AC3E}">
        <p14:creationId xmlns:p14="http://schemas.microsoft.com/office/powerpoint/2010/main" val="24948102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C899-06A1-B50A-1D24-6EBC3948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A1B1D68F-8A14-0CBF-3162-925E17AFD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4CB26DDC-A619-4615-B92C-79FA028564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C7F8EA-F871-C5AA-59A1-D9655F9097A1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What is data type and Data type in C++?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📊 C++ Data Types &amp; Microcontroller Memory Footprint Matrix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Segoe UI"/>
              </a:defRPr>
            </a:pPr>
            <a:r>
              <a:t>Data types inform the compiler how many bytes of RAM to reserve and how to interpret raw binary bits (Signed vs Unsigned, Fixed-Point vs Floating Point).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377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RAM Size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 Range / Bit Representation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Embedded Hardware Application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Byte (8 bits)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true (1) or false 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Digital GPIO Pin State (HIGH/LOW)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char / uint8_t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Byte (8 bits)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 to 255 (Unsigned ASCII)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UART Serial RX/TX Byte &amp; 8-bit Registers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 / int16_t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Bytes (16 bits)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-32,768 to 32,767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Standard 10-bit &amp; 12-bit ADC Readings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uint32_t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Bytes (32 bits)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 to 4,294,967,295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32-bit Hardware MMIO Register Addresses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Bytes (32 bits)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IEEE 754 Single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Sensor Calibration &amp; Physics Calculations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 Bytes (64 bits)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IEEE 754 Double 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⚠️ Avoid on 32-bit Cores without FPU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12192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2DEA-F64E-CD84-CE4D-F3003CE6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7F4E9DE8-1D1F-B4F2-2658-321A6F51C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1AFA272E-3986-C80A-C4E4-36040ABB84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53E7DD-3582-AA37-8BC7-E99B733F09B5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Best practice of Const keyword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WITHOUT 'const' (Dangerous &amp; RAM Heavy)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Plain Mutable Variable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LED_PIN = 13; // Uses precious RAM!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setup()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pinMode(LED_PIN, OUTPUT);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loop()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LED_PIN = 99; // DANGER! Accidental change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digitalWrite(LED_PIN, HIGH); // Crashes Pin!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/>
              <a:t>✅</a:t>
            </a:r>
            <a:r>
              <a:t> WITH 'const' / 'constexpr' (Safe &amp; Flash ROM)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Read-Only Constant in Flash ROM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const int LED_PIN = 13; // Flash stored!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setup()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pinMode(LED_PIN, OUTPUT);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loop()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LED_PIN = 99; -&gt; COMPILE ERROR!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Compiler blocks accidental modification.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digitalWrite(LED_PIN, HIGH); // Safe!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315386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4EE17-9871-51AD-E43E-7F2C4176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9AF43A86-38C8-EAB6-0027-990932D56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0D1D85C7-9C12-F729-3BE8-ABAB7470A4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787CAE-E71A-FFA6-3296-0CE0AADC08B7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Operator?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45920"/>
            <a:ext cx="481523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➕ Arithmetic Operators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57400"/>
            <a:ext cx="472379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+  Addition: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val = a + b;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-  Subtraction: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val = a - b;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*  Multiplication: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val = a * b;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/  Division: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val = a / b;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%  Modulo Remainder:  </a:t>
            </a:r>
            <a:r>
              <a:rPr sz="1100" b="0">
                <a:solidFill>
                  <a:srgbClr val="64748B"/>
                </a:solidFill>
                <a:latin typeface="Segoe UI"/>
              </a:rPr>
              <a:t>val = a % b;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270" y="1463040"/>
            <a:ext cx="518099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61150" y="1645920"/>
            <a:ext cx="481523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📝 Assignment &amp; Compound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6870" y="2057400"/>
            <a:ext cx="472379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=   Direct Assign: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x = 10;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+=  Add &amp; Assign: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x += 5; // x = x + 5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-=  Sub &amp; Assign: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x -= 2; // x = x - 2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&amp;=  Bitwise AND:  </a:t>
            </a:r>
            <a:r>
              <a:rPr sz="1100" b="0">
                <a:solidFill>
                  <a:srgbClr val="64748B"/>
                </a:solidFill>
                <a:latin typeface="Segoe UI"/>
              </a:rPr>
              <a:t>REG &amp;= ~(1&lt;&lt;3);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|=  Bitwise OR:  </a:t>
            </a:r>
            <a:r>
              <a:rPr sz="1100" b="0">
                <a:solidFill>
                  <a:srgbClr val="64748B"/>
                </a:solidFill>
                <a:latin typeface="Segoe UI"/>
              </a:rPr>
              <a:t>REG |= (1&lt;&lt;3);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18099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114800"/>
            <a:ext cx="481523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🔍 Relational Operators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26280"/>
            <a:ext cx="472379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==  Equal to: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if (x == 10)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!=  Not Equal: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if (x != 0)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&gt;   Greater than: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if (temp &gt; 30)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&lt;   Less than: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if (val &lt; 100)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&gt;=  /  &lt;=:  </a:t>
            </a:r>
            <a:r>
              <a:rPr sz="1100" b="0">
                <a:solidFill>
                  <a:srgbClr val="64748B"/>
                </a:solidFill>
                <a:latin typeface="Segoe UI"/>
              </a:rPr>
              <a:t>Threshold comparison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270" y="3931920"/>
            <a:ext cx="518099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61150" y="4114800"/>
            <a:ext cx="481523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Bitwise Operators (Hardware Core)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6870" y="4526280"/>
            <a:ext cx="472379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&amp;   Bitwise AND:  </a:t>
            </a:r>
            <a:r>
              <a:rPr sz="1100" b="0">
                <a:solidFill>
                  <a:srgbClr val="64748B"/>
                </a:solidFill>
                <a:latin typeface="Segoe UI"/>
              </a:rPr>
              <a:t>Masking specific bits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|   Bitwise OR:  </a:t>
            </a:r>
            <a:r>
              <a:rPr sz="1100" b="0">
                <a:solidFill>
                  <a:srgbClr val="64748B"/>
                </a:solidFill>
                <a:latin typeface="Segoe UI"/>
              </a:rPr>
              <a:t>Setting register bits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^   Bitwise XOR:  </a:t>
            </a:r>
            <a:r>
              <a:rPr sz="1100" b="0">
                <a:solidFill>
                  <a:srgbClr val="64748B"/>
                </a:solidFill>
                <a:latin typeface="Segoe UI"/>
              </a:rPr>
              <a:t>Toggling register bits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~   Bitwise NOT: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Inverting all bits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&lt;&lt; / &gt;&gt; Shift:  </a:t>
            </a:r>
            <a:r>
              <a:rPr sz="1100" b="0">
                <a:solidFill>
                  <a:srgbClr val="64748B"/>
                </a:solidFill>
                <a:latin typeface="Segoe UI"/>
              </a:rPr>
              <a:t>Shifting pin positions</a:t>
            </a:r>
          </a:p>
        </p:txBody>
      </p:sp>
    </p:spTree>
    <p:extLst>
      <p:ext uri="{BB962C8B-B14F-4D97-AF65-F5344CB8AC3E}">
        <p14:creationId xmlns:p14="http://schemas.microsoft.com/office/powerpoint/2010/main" val="168123698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BA5E-BD83-C2DA-94E5-A454E7BBA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51851443-FDD9-DDB6-FF4E-2D526FFDD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A26BAAC9-6CB8-0344-D9E1-1D7267FC5C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0F5879E-F27A-F9E0-66EA-C077A7231B00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Arithmetic operator  &amp; Integer Division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508760"/>
            <a:ext cx="411480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Integer Truncation Hazard Alert!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In C++, dividing two integer variables performs INTEGER DIVISION. The fractional remainder is truncated toward zero, causing unexpected zero results in sensor equations!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4469" y="2532888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2948940"/>
            <a:ext cx="2962656" cy="8720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DC2626"/>
                </a:solidFill>
                <a:latin typeface="Consolas"/>
              </a:defRPr>
            </a:pPr>
            <a:r>
              <a:t>5 / 2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= 2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rPr sz="1400"/>
              <a:t>Fraction .5 is completely dropped!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5603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2936" y="2926080"/>
            <a:ext cx="2962656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DC2626"/>
                </a:solidFill>
                <a:latin typeface="Consolas"/>
              </a:defRPr>
            </a:pPr>
            <a:r>
              <a:t>1 / 2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= 0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CRITICAL: ADC scale drops to zero!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5603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97519" y="2880359"/>
            <a:ext cx="2962656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59669"/>
                </a:solidFill>
                <a:latin typeface="Consolas"/>
              </a:defRPr>
            </a:pPr>
            <a:r>
              <a:t>5 % 2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= 1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Modulo captures integer remainder 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892040"/>
            <a:ext cx="4114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Solutions for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1. Explicit Type Casting:  float result = (float)5 / 2;  // 2.5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2. Floating Point Literal:  float result = 5.0 / 2;       // 2.5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3. Fixed-Point Scaling:    uint32_t milliVolts = (adcVal * 3300) / 1024;  // Preserves precision without float</a:t>
            </a:r>
          </a:p>
        </p:txBody>
      </p:sp>
    </p:spTree>
    <p:extLst>
      <p:ext uri="{BB962C8B-B14F-4D97-AF65-F5344CB8AC3E}">
        <p14:creationId xmlns:p14="http://schemas.microsoft.com/office/powerpoint/2010/main" val="29108446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0818-8BB3-6475-2237-3134313A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9671BA68-9766-E811-C942-09FADF455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202EE4A3-AAE4-6C73-7412-8C7223F237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713B80-6466-73F3-259A-763C183B028D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Arithmetic operator  &amp; Integer Division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362895" cy="418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 Modulo Arithmetic &amp; Fixed-Point vs Floating-Point Comparison Table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Segoe UI"/>
              </a:defRPr>
            </a:pPr>
            <a:r>
              <a:t>In resource-constrained 32-bit microcontrollers, scaling numbers up into Fixed-Point Integers completely eliminates soft-float library overhead.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377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Math Approach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C++ Code Example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Execution Speed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Flash &amp; RAM Impact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Hardware Suitability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Soft Floating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float v = (adc * 3.3) / 1024.0;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Slow (~80 CPU cycles)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Pulls +2.5 KB Soft-Float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FPU 32-bit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Fixed-Point Integer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uint32_t mV = (adc * 3300) / 1024;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Blazing Fast (1 ALU cycle)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 Bytes Extra Library Overhead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Ideal for RISC-V / SWADHEEN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Modulo Wrapping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index = (index + 1) % 8;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Fast (Integer Modulo)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Zero Memory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Circular Ring Buffers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Periodic Timer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if (ticks % 100 == 0) toggle();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Fast (Branch on zero)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Zero Memory Overhead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LED &amp; Sensor Polling Timers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3273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0E45-DFED-B05E-3513-4CBDB8AC8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9FF03BEE-698A-B2AF-7932-FC62AC0A0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48FD1A13-8227-6899-DFF5-24F20C4A2C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13B0D8-F8A5-DFFA-49D2-0691B6AB70F6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Logical Operator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2962656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&amp;&amp; Logical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277977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true &amp;&amp; true: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true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true &amp;&amp; false: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false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false &amp;&amp; false: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false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Rule: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BOTH conditions MUST be true.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Hardware Code: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if (temp &gt; 30 &amp;&amp; fanOn)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08576" y="1691640"/>
            <a:ext cx="2962656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|| Logical 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194560"/>
            <a:ext cx="277977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true || true: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true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true || false: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true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false || false: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false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Rule: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At least ONE condition is true.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Hardware Code: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if (btn1 == LOW || btn2 == LOW)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02752" y="1691640"/>
            <a:ext cx="2962656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! Logical NOT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194560"/>
            <a:ext cx="277977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!true: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false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!false: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true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Rule: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Inverts boolean truth state.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onsolas"/>
              </a:defRPr>
            </a:pPr>
            <a:r>
              <a:t>•  Hardware Code:  </a:t>
            </a:r>
            <a:r>
              <a:rPr sz="1100" b="0">
                <a:solidFill>
                  <a:srgbClr val="64748B"/>
                </a:solidFill>
                <a:latin typeface="Segoe UI"/>
              </a:rPr>
              <a:t>if (!sensorReady)</a:t>
            </a:r>
          </a:p>
        </p:txBody>
      </p:sp>
    </p:spTree>
    <p:extLst>
      <p:ext uri="{BB962C8B-B14F-4D97-AF65-F5344CB8AC3E}">
        <p14:creationId xmlns:p14="http://schemas.microsoft.com/office/powerpoint/2010/main" val="25783262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36CB-0603-5554-18E4-AD5D310E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60F0CB50-79BF-2967-BA22-893F2AA76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EC348963-EB4C-B7F3-7B35-C481E29EBD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A28232-2297-F686-B56E-0A641DF371B0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Decision making if else and switch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🔀 if / else if / else (Range Logic)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temp = 28;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if (temp &lt; 0)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setHeater(HIGH);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else if (temp &gt;= 0 &amp;&amp; temp &lt; 25)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setHeater(LOW);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else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setCooler(HIGH);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Ternary Operator (Compact if-else)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String state = (temp &gt; 25) ? "HOT" : "OK";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🎛️ switch / case (Discrete State Machine)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mode = 2;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switch (mode)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case 1: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  digitalWrite(LED1, HIGH);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break; // Prevent fallthrough!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case 2: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  digitalWrite(LED2, HIGH);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break;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default: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allLedsOff();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042432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017F3-7524-C7C2-9624-7F817A7B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ABA50F38-2477-D8C0-3266-64BB72596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C366DC0E-0ABD-259C-C11E-BE4C62D235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8C2AF6C-380F-9D4E-4013-E1B591706E10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Different between switch case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/ Criteria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if-else Structure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switch-case Structure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Hardware &amp; Performance Impact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Condition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Evaluates complex boolean ranges &amp; floating 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Evaluates discrete integer constants &amp; enums only.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if-else is versatile; switch is constrained.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Compiler Optimization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Sequential branch testing (beq/bne instructions).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Optimizes into direct CPU Jump Table (jr offset).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Jump tables jump instantly to target address.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Execution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O(N) sequential check (slower for many cases).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O(1) constant lookup time via jump table.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switch is significantly faster for 4+ cases.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Fallthrough Behavior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Branches are isolated independently.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Requires explicit 'break;' to prevent fallthrough.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Accidental fallthrough is a common bug!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Embedded 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Sensor thresholding, floating point logic.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Finite State Machines (FSM), UART menus.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Use switch for clean state machine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00693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08DC-10F1-0BA0-E946-F122AA62C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BAEE10EA-62FC-C069-E538-394620428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F4B86903-C5E1-D7C0-C4ED-C296A426F8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3DF4CC-6F86-9456-4858-1CD9857DA3D3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Use of volatile key word</a:t>
            </a:r>
          </a:p>
        </p:txBody>
      </p:sp>
      <p:pic>
        <p:nvPicPr>
          <p:cNvPr id="11" name="Picture 10" descr="mmio_gpio_register_diagram_17871314191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63040"/>
            <a:ext cx="5180990" cy="4754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1150" y="1572768"/>
            <a:ext cx="481523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38BDF8"/>
                </a:solidFill>
                <a:latin typeface="Consolas"/>
              </a:defRPr>
            </a:pPr>
            <a:r>
              <a:t>// Volatile Hardware Polling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150" y="1865376"/>
            <a:ext cx="4815230" cy="42428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WITHOUT 'volatile': Compiler caches value!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status = 0; // Bugs out in ISR polling!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WITH 'volatile': Forces direct RAM/MMIO read!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volatile int hwStatus = 0;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ISR_handler()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hwStatus = 1; // Hardware ISR updates RAM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main()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while (hwStatus == 0)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  // Re-reads memory address on EVERY cycle!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66509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EB30-80E5-71B1-64B3-769CDE84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1EF9B2EF-07E5-87A3-817D-7A1AB72A9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3B96D09F-4EE7-A6D2-421C-CE0422AAC0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F53314-FD15-CFFF-CBA0-B2E2A74F8128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508760"/>
            <a:ext cx="411480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Embedded Superloop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Microcontrollers run without an Operating System exit. They utilize an infinite 'Superloop' (while(1) or loop()) to continuously sample sensors, process logic, and update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3328416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2788920"/>
            <a:ext cx="2962656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🔁 for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2871216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Counter-Based Iteration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Used for fixed iterations e.g. multi-sample ADC averaging or PWM sweeping.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60320"/>
            <a:ext cx="3328416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08576" y="2788920"/>
            <a:ext cx="2962656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🔄 while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291840"/>
            <a:ext cx="2871216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Condition-Based Polling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Used for hardware busy polling or infinite main superloops.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2560320"/>
            <a:ext cx="3328416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02752" y="2788920"/>
            <a:ext cx="2962656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🔂 do-while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291840"/>
            <a:ext cx="2871216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Guaranteed 1st Execution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Used for sensor init handshakes where execution must run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34196937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2F783-D635-1DA6-C385-D8BDF0394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10E32EF6-2FE1-A225-50DB-38B32F171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5DC8DC41-2306-7BE9-E467-4CEF674584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D5A39C1-904E-84A1-72E2-EE19285BDD67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For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🔍 For Loop Anatomy &amp; 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for (init; condition; increment)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for (int i = 0; i &lt; 5; i++)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Loop body runs 5 times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Execution Order: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1. int i = 0        (Init: Runs ONCE)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2. i &lt; 5            (Condition check)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3. Execute Body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4. i++              (Increment step)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5. Repeat steps 2-4 until 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💡 Hardware Example: PWM LED Fading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const int LED_PIN = 9;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setup()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pinMode(LED_PIN, OUTPUT);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loop()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Fade LED in from 0 to 255 PWM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for (int duty = 0; duty &lt;= 255; duty++)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analogWrite(LED_PIN, duty);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delay(10); // 10ms step delay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676881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2443-B55F-3FB1-D6B4-9406A4DD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B01663C1-5743-E791-7DE7-7F3563800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F3DE1783-8AA8-22AC-200B-1EA1E84D4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D5481B-E16A-E5FC-A9B5-BE6D95062326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While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⏳ Hardware Busy Polling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Poll ADC until conversion is ready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while (adcBusyFlag == true)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Wait for hardware flag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Poll UART buffer until byte arrives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while (Serial.available() == 0)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Wait for incoming RX byte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char data = Serial.read();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Bare-Metal Main Superloop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main()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hardwareInit();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Infinite Firmware Superloop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while (true)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readSensors();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processControlLogic();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  updateOutputs();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return 0;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020763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ACBD-8182-4F2D-0862-956057A8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3608F56A-F450-343A-AE9C-A6F7701AF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CC498FC1-55ED-227B-83C7-D059BD9B62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0E99800-B189-0F3B-8C67-5D3F63DCD05D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Do while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🔂 Post-Condition Loop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do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1. Execute body FIRST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(Guaranteed at least 1 run!)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while (condition); // 2. Check condition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Key Difference from while():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while() checks condition BEFORE body.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do-while checks condition AFTER body.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📡 Sensor Initialization Retry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retries = 0;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bool ack = false;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do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ack = sendSensorPing();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retries++;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delay(50);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while (!ack &amp;&amp; retries &lt; 5);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if (ack) Serial.println("Sensor Ready!");</a:t>
            </a:r>
          </a:p>
        </p:txBody>
      </p:sp>
    </p:spTree>
    <p:extLst>
      <p:ext uri="{BB962C8B-B14F-4D97-AF65-F5344CB8AC3E}">
        <p14:creationId xmlns:p14="http://schemas.microsoft.com/office/powerpoint/2010/main" val="73246010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E1CC-D705-BE0A-C7AD-7D236664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021E4371-938B-67F6-CB77-B3D1C63E4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6897FC28-6924-77BB-5B90-059A17F7FD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FE2CB79-119E-7166-A6F6-B1016018560E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🧱 Function Structure &amp; 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return_type name(param_list)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calculatePWM(int temperature)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if (temperature &gt; 40)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  return 255; // Max fan speed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return (temperature * 255) / 40;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setup()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int pwm = calculatePWM(30);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Firmware Architectural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590" y="2240280"/>
            <a:ext cx="463235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1. Code Modularity: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Isolates complex peripheral register code into clean API blocks.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2. Flash ROM Reuse: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Saves Flash memory by re-using one machine instruction block.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3. RAM Stack Scoping: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Local variables exist only during function execution, freeing RAM upon return.</a:t>
            </a:r>
          </a:p>
        </p:txBody>
      </p:sp>
    </p:spTree>
    <p:extLst>
      <p:ext uri="{BB962C8B-B14F-4D97-AF65-F5344CB8AC3E}">
        <p14:creationId xmlns:p14="http://schemas.microsoft.com/office/powerpoint/2010/main" val="204847859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B2DE-FC8F-A957-8AF5-0F360FF5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839C7C5A-8BDE-A980-7979-A0864B3C5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96E61EB1-9840-A7CD-5AC3-77A3728676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1A1DC83-7B71-0925-4C2A-B3373996EBB3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Call By Value And call By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📦 Call by Value (Creates Temporary Copy)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resetCounter(int count)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count = 0; // Modifies LOCAL copy!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main()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int myCount = 50;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resetCounter(myCount);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myCount is STILL 50!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Creates stack copy overhead.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🔗 Call by Reference (&amp;) (Direct Address Access)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resetCounter(int &amp;count)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count = 0; // Modifies ORIGINAL!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main()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int myCount = 50;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resetCounter(myCount);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myCount is now 0!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Zero memory copy overhead.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19266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5540-E7E4-843C-4367-37BB43A6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16D37088-D382-ADDE-0286-76A2F5D40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2780E110-09F6-790C-033D-E97AEC5B36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BCC0B2-BA33-2AE8-5544-A9B8DB54F66C}"/>
              </a:ext>
            </a:extLst>
          </p:cNvPr>
          <p:cNvSpPr/>
          <p:nvPr/>
        </p:nvSpPr>
        <p:spPr>
          <a:xfrm>
            <a:off x="3666744" y="210312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Function prologue &amp;Function epilogue</a:t>
            </a:r>
          </a:p>
        </p:txBody>
      </p:sp>
      <p:pic>
        <p:nvPicPr>
          <p:cNvPr id="11" name="Picture 10" descr="riscv_stack_frame_diagram_17871314008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63040"/>
            <a:ext cx="5180990" cy="4754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1150" y="1572768"/>
            <a:ext cx="481523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38BDF8"/>
                </a:solidFill>
                <a:latin typeface="Consolas"/>
              </a:defRPr>
            </a:pPr>
            <a:r>
              <a:t>// RISC-V Assembly Stack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150" y="1865376"/>
            <a:ext cx="4815230" cy="42428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1. PROLOGUE (Function Entry)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addi sp, sp, -16  # Allocate 16-byte stack frame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sw   ra, 12(sp)   # Save Return Address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sw   s0, 8(sp)    # Save Frame Pointer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2. FUNCTION BODY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Executes compiled C++ instructions...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3. EPILOGUE (Function Exit)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lw   ra, 12(sp)   # Restore Return Address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lw   s0, 8(sp)    # Restore Frame Pointer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addi sp, sp, 16   # Pop stack frame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ret               # Jump to ra register</a:t>
            </a:r>
          </a:p>
        </p:txBody>
      </p:sp>
    </p:spTree>
    <p:extLst>
      <p:ext uri="{BB962C8B-B14F-4D97-AF65-F5344CB8AC3E}">
        <p14:creationId xmlns:p14="http://schemas.microsoft.com/office/powerpoint/2010/main" val="242203525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C5F2-772B-112C-F714-833CB842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51BA133B-2DE4-FD87-6129-E00C461F6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64516BF6-08EE-A8E8-ABC9-8F15BAA2B9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D81170-7E4F-F225-E98D-C86A0BFCB317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Array?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💾 Contiguous RAM Array Layout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0284C7"/>
                </a:solidFill>
                <a:latin typeface="Consolas"/>
              </a:defRPr>
            </a:pPr>
            <a:r>
              <a:t>adcSamples[0] = 102   |   0x20000000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200400"/>
            <a:ext cx="463235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310128"/>
            <a:ext cx="426659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059669"/>
                </a:solidFill>
                <a:latin typeface="Consolas"/>
              </a:defRPr>
            </a:pPr>
            <a:r>
              <a:t>adcSamples[1] = 305   |   0x20000002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160520"/>
            <a:ext cx="463235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270248"/>
            <a:ext cx="426659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D97706"/>
                </a:solidFill>
                <a:latin typeface="Consolas"/>
              </a:defRPr>
            </a:pPr>
            <a:r>
              <a:t>adcSamples[2] = 450   |   0x20000004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120640"/>
            <a:ext cx="463235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230368"/>
            <a:ext cx="426659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7C3AED"/>
                </a:solidFill>
                <a:latin typeface="Consolas"/>
              </a:defRPr>
            </a:pPr>
            <a:r>
              <a:t>adcSamples[3] = 512   |   0x20000006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1150" y="1572768"/>
            <a:ext cx="4815230" cy="45354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Declaring Fixed Size RAM Array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 adcSamples[4] = {102, 305, 450, 512};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Accessing Elements (Zero-Indexed)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 s0 = adcSamples[0]; // 102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 s3 = adcSamples[3]; // 512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Total Size in RAM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size_t totalBytes = sizeof(adcSamples); // 8 Bytes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size_t count = sizeof(adcSamples) / sizeof(adcSamples[0]);</a:t>
            </a:r>
          </a:p>
        </p:txBody>
      </p:sp>
    </p:spTree>
    <p:extLst>
      <p:ext uri="{BB962C8B-B14F-4D97-AF65-F5344CB8AC3E}">
        <p14:creationId xmlns:p14="http://schemas.microsoft.com/office/powerpoint/2010/main" val="226993047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C310-D46D-9F73-F0AB-45B56A53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C7E59793-E2A0-B537-3E05-2AE9F822C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D8A8AA8E-4372-BDDA-5773-96354A41E2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42DE436-78CF-A2CD-A00E-1EB85844F04D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Traversing Array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🔁 Index Subscript Traversal (arr[i])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 samples[5] = {10, 20, 30, 40, 50};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uint32_t sum = 0;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for (int i = 0; i &lt; 5; i++)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sum += samples[i]; // Access by index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 average = sum / 5; // 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Pointer Arithmetic Traversal (*(arr+i))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 samples[5] = {10, 20, 30, 40, 50};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uint16_t* ptr = samples; // Points to samples[0]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uint32_t sum = 0;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for (int i = 0; i &lt; 5; i++)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sum += *ptr; // Dereference pointer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ptr++;       // Advance 2 Bytes in RAM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217958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BEDD2-5504-836B-D6F2-C40E5B2B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48C38AF3-3502-51C5-B855-ADC8D1561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EF2BDF03-A2F2-DBCD-C40A-3347DF94C3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A6D8439-70E6-C541-44F6-672394B84920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String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✅ C-Style Null-Terminated char[] (Recommended)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Fixed RAM/Flash allocation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char msg[] = "SWADHEEN"; // 9 Bytes with \0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setup() {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Serial.println(msg);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Zero heap fragmentation!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Fast &amp; lightweight for UART.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⚠️ Arduino String Class Warning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Dynamic Heap Allocation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String data = "Temperature: ";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data += 36.5; // Allocates &amp; reallocates heap!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DANGER on Microcontrollers: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Causes severe RAM fragmentation,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leading to sudden random crashes!</a:t>
            </a:r>
          </a:p>
        </p:txBody>
      </p:sp>
    </p:spTree>
    <p:extLst>
      <p:ext uri="{BB962C8B-B14F-4D97-AF65-F5344CB8AC3E}">
        <p14:creationId xmlns:p14="http://schemas.microsoft.com/office/powerpoint/2010/main" val="411785131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FCEE-F5C3-6671-2241-A57DD596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759B17AA-6D8F-4D10-6748-FB9410B90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0E995E4E-DCA8-AC33-7DC5-B8822C6C00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E9C0B4-B380-9911-A7FC-708B9B055631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Pointer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📌 Pointer &amp; Address Visualizer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targetVar = 100; // Stored at 0x20000010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int* pTarget = &amp;targetVar;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pTarget holds address: 0x20000010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*pTarget dereferences value: 100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*pTarget = 200; // Mutates targetVar to 200!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Hardware MMIO Register Pointers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59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547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Mapping pointer directly to physical MMIO address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#define GPIO_DATA_ADDR 0x40001000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volatile uint32_t* pGpioData = 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  (volatile uint32_t*)GPIO_DATA_ADDR;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Write directly to chip pin hardware register!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*pGpioData = 0xFF; // Set pins HIGH</a:t>
            </a:r>
          </a:p>
        </p:txBody>
      </p:sp>
    </p:spTree>
    <p:extLst>
      <p:ext uri="{BB962C8B-B14F-4D97-AF65-F5344CB8AC3E}">
        <p14:creationId xmlns:p14="http://schemas.microsoft.com/office/powerpoint/2010/main" val="386886907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1B17-FE15-0064-07D6-7B57D1BD3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55327E34-E014-4A9A-8496-3AB79A434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18C09525-D05F-2463-E42A-E6689DC5D4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5A71F0A-9E5A-7F90-4ACD-58327D9E6B53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 Real project And real life example </a:t>
            </a:r>
          </a:p>
        </p:txBody>
      </p:sp>
      <p:pic>
        <p:nvPicPr>
          <p:cNvPr id="11" name="Picture 10" descr="mmio_gpio_register_diagram_17871314191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63040"/>
            <a:ext cx="5180990" cy="4754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1150" y="1572768"/>
            <a:ext cx="481523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38BDF8"/>
                </a:solidFill>
                <a:latin typeface="Consolas"/>
              </a:defRPr>
            </a:pPr>
            <a:r>
              <a:t>// SWADHEEN Bare-Metal GPIO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150" y="1865376"/>
            <a:ext cx="4815230" cy="42428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// SWADHEEN GPIO Base Register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#define GPIO_BASE 0x40001000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#define GPIO_DIR  (*(volatile uint32_t*)(GPIO_BASE + 0x00))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#define GPIO_DATA (*(volatile uint32_t*)(GPIO_BASE + 0x04))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int main() {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GPIO_DIR |= (1 &lt;&lt; 5);  // Pin 5 Output</a:t>
            </a:r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  while(1)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  GPIO_DATA |= (1 &lt;&lt; 5);  // HIGH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  GPIO_DATA &amp;= ~(1 &lt;&lt; 5); // LOW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087673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9788-4262-A1EF-F3AA-E8A82369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9962ABC8-A31F-B458-BF75-16D3B889F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C6F4D21E-6D39-0710-9701-B5999736AE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E2CF75-83F6-BC12-AA83-7A7C04C40F7F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 Arduino IDEA setup</a:t>
            </a:r>
          </a:p>
        </p:txBody>
      </p:sp>
      <p:pic>
        <p:nvPicPr>
          <p:cNvPr id="11" name="Picture 10" descr="swadheen_mcu_board_arduino_17871315961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63040"/>
            <a:ext cx="5180990" cy="4754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🛠️ Arduino IDE Setup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590" y="2240280"/>
            <a:ext cx="463235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Step 1: Board Manager URL: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Preferences -&gt; Additional Board Manager URLs -&gt; Add SWADHEEN RISC-V Core JSON link.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Step 2: Install Toolchain: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Tools -&gt; Board Manager -&gt; Search 'SWADHEEN 32-Bit RISC-V' &amp; Click Install.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Step 3: Flashing Firmware: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Select Board: 'SWADHEEN v1.0', Select COM Port, and Click Upload (Ctrl+U).</a:t>
            </a:r>
          </a:p>
        </p:txBody>
      </p:sp>
    </p:spTree>
    <p:extLst>
      <p:ext uri="{BB962C8B-B14F-4D97-AF65-F5344CB8AC3E}">
        <p14:creationId xmlns:p14="http://schemas.microsoft.com/office/powerpoint/2010/main" val="200115156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59FB-27B2-C0F8-3819-77EC2E42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EF337B26-B751-339E-B104-540FE6AAE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2CAF5297-74A1-319C-42FA-0856DA5135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32745B-8E24-C9AE-8B5D-BDE9AC4BA400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Light on of code for arduino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691640"/>
            <a:ext cx="481523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High-Level Arduino HAL Blink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240280"/>
            <a:ext cx="4632350" cy="37490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350008"/>
            <a:ext cx="4266590" cy="3529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const int LED_PIN = 13;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setup() {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  <a:latin typeface="Consolas"/>
              </a:defRPr>
            </a:pPr>
            <a:r>
              <a:t>  // Configure pin mode via HAL API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pinMode(LED_PIN, OUTPUT);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lnSpc>
                <a:spcPct val="115000"/>
              </a:lnSpc>
              <a:defRPr sz="1100">
                <a:solidFill>
                  <a:srgbClr val="38BDF8"/>
                </a:solidFill>
                <a:latin typeface="Consolas"/>
              </a:defRPr>
            </a:pPr>
            <a:r>
              <a:t>void loop() {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digitalWrite(LED_PIN, HIGH); // Turn LED ON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delay(1000);                 // Wait 1 second</a:t>
            </a:r>
          </a:p>
          <a:p>
            <a:pPr>
              <a:lnSpc>
                <a:spcPct val="115000"/>
              </a:lnSpc>
              <a:defRPr sz="1100">
                <a:solidFill>
                  <a:srgbClr val="4ADE80"/>
                </a:solidFill>
                <a:latin typeface="Consolas"/>
              </a:defRPr>
            </a:pPr>
            <a:r>
              <a:t>  digitalWrite(LED_PIN, LOW);  // Turn LED OFF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  delay(1000);                 // Wait 1 second</a:t>
            </a:r>
          </a:p>
          <a:p>
            <a:pPr>
              <a:lnSpc>
                <a:spcPct val="115000"/>
              </a:lnSpc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1150" y="1691640"/>
            <a:ext cx="481523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🔍 Arduino HAL Layer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590" y="2240280"/>
            <a:ext cx="463235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High Abstraction Level: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   Easy for beginners, hides underlying register hardware completely.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Hidden Call Overhead: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   digitalWrite() performs pin lookup tables, safety checks, and bit shifting on EVERY call!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Slower Toggle Speed: </a:t>
            </a:r>
          </a:p>
          <a:p>
            <a:pPr>
              <a:spcAft>
                <a:spcPts val="12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   Max pin toggling speed restricted to ~100-200 kHz due to HAL function call overhead.</a:t>
            </a:r>
          </a:p>
        </p:txBody>
      </p:sp>
    </p:spTree>
    <p:extLst>
      <p:ext uri="{BB962C8B-B14F-4D97-AF65-F5344CB8AC3E}">
        <p14:creationId xmlns:p14="http://schemas.microsoft.com/office/powerpoint/2010/main" val="161740805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0D4D-813A-CC34-645C-AD6D3495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8288606B-B772-5425-DE4C-C7555DBBC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AF3C283C-CC23-A061-3717-9C2B501F01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3D748AB-5F49-AF6F-990E-362332809789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 Light on of BY SWADHEEN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⚡ SWADHEEN Bare-Metal C++ Execution vs Arduino HAL Benchmark Table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Segoe UI"/>
              </a:defRPr>
            </a:pPr>
            <a:r>
              <a:t>Direct RISC-V MMIO register access yields 80x faster pin toggling speed and saves over 4KB of Flash ROM memory space.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377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Benchmark Metric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Arduino HAL Implementation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SWADHEEN Bare-Metal C++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Performance Advantage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Compiled Binary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~4.8 KB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~0.4 KB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12x Smaller Flash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Pin Toggle Frequency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~150 kHz Max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~12.5 MHz Max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80x Faster Execution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RAM Memory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~180 Bytes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 Bytes RAM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Zero RAM Consumption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Register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Abstracted HAL lookup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Direct MMIO Pointer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Real-Time Predictable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50718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11541-637F-75C9-F39A-CCD4B03E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9F044898-0526-A7C2-0BB1-B92FC208B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2876759F-A451-7693-B94C-4E1DB4B5EE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B4CB05-F850-56A9-3775-CF40BDAE4881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 Continue for next day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7C3AED"/>
                </a:solidFill>
                <a:latin typeface="Segoe UI"/>
              </a:defRPr>
            </a:pPr>
            <a:r>
              <a:t>🎉 Day 2 Mastery Summary &amp; Day 3 Advanced Hardware Roadmap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Segoe UI"/>
              </a:defRPr>
            </a:pPr>
            <a:r>
              <a:t>Congratulations on mastering fundamental C++ hardware principles! Below is the summary of achievements and preview of tomorrow's session.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377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Day 2 Completed Topics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Day 3 Next Day Roadmap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Memory &amp;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RAM Storage Boxes, Data Type Matrix, Const Flash ROM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Dynamic Memory Management &amp; Custom Heap Drivers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Control &amp; Loops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Switch Jump Tables, Volatile Keyword, Superloop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Hardware Interrupt Service Routines (ISRs)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Functions &amp;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Call by Value/Ref, RISC-V Prologue &amp; Epilogue Stack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FreeRTOS Task Scheduling &amp; Real-Time Kernel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Peripheral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Pointers, MMIO Registers, SWADHEEN Bare-Metal Blink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PWM Timers, UART Serial, SPI/I2C Sensor Bus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33891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11541-637F-75C9-F39A-CCD4B03E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ymensingh Engineering College - Wikipedia">
            <a:extLst>
              <a:ext uri="{FF2B5EF4-FFF2-40B4-BE49-F238E27FC236}">
                <a16:creationId xmlns:a16="http://schemas.microsoft.com/office/drawing/2014/main" id="{9F044898-0526-A7C2-0BB1-B92FC208B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3469" y="42876"/>
            <a:ext cx="1113091" cy="11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n a dark background&#10;&#10;Description automatically generated">
            <a:extLst>
              <a:ext uri="{FF2B5EF4-FFF2-40B4-BE49-F238E27FC236}">
                <a16:creationId xmlns:a16="http://schemas.microsoft.com/office/drawing/2014/main" id="{2876759F-A451-7693-B94C-4E1DB4B5EE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09" b="2909"/>
          <a:stretch>
            <a:fillRect/>
          </a:stretch>
        </p:blipFill>
        <p:spPr>
          <a:xfrm>
            <a:off x="105440" y="93534"/>
            <a:ext cx="1019557" cy="10195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B4CB05-F850-56A9-3775-CF40BDAE4881}"/>
              </a:ext>
            </a:extLst>
          </p:cNvPr>
          <p:cNvSpPr/>
          <p:nvPr/>
        </p:nvSpPr>
        <p:spPr>
          <a:xfrm>
            <a:off x="3685794" y="93534"/>
            <a:ext cx="4480560" cy="5785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Neue Haas Grotesk Text Pro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Trebuchet MS"/>
              </a:defRPr>
            </a:pPr>
            <a:r>
              <a:t> Continue for next day </a:t>
            </a:r>
          </a:p>
        </p:txBody>
      </p:sp>
      <p:pic>
        <p:nvPicPr>
          <p:cNvPr id="1026" name="Picture 2" descr="HD44780 initialization failed LCD 1602 I2C - Displays - Arduino Forum">
            <a:extLst>
              <a:ext uri="{FF2B5EF4-FFF2-40B4-BE49-F238E27FC236}">
                <a16:creationId xmlns:a16="http://schemas.microsoft.com/office/drawing/2014/main" id="{AB520924-1819-4A73-9D4A-7D47BDB30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942" y="752088"/>
            <a:ext cx="9789458" cy="610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61504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36"/>
  <p:tag name="AS_OS" val="Unix 5.4.0.216"/>
  <p:tag name="AS_RELEASE_DATE" val="2024.02.14"/>
  <p:tag name="AS_TITLE" val="Aspose.Slides for .NET6"/>
  <p:tag name="AS_VERSION" val="24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Neue Haas Grotesk Text Pro"/>
        <a:cs typeface="Arial"/>
      </a:majorFont>
      <a:minorFont>
        <a:latin typeface="Neue Haas Grotesk Text Pro"/>
        <a:ea typeface="Neue Haas Grotesk Text Pr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3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Neue Haas Grotesk Text Pro"/>
        <a:cs typeface="Arial"/>
      </a:majorFont>
      <a:minorFont>
        <a:latin typeface="Neue Haas Grotesk Text Pro"/>
        <a:ea typeface="Neue Haas Grotesk Text Pr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3531</Words>
  <Application>Microsoft Office PowerPoint</Application>
  <PresentationFormat>Widescreen</PresentationFormat>
  <Paragraphs>571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Aptos</vt:lpstr>
      <vt:lpstr>Arial</vt:lpstr>
      <vt:lpstr>Calibri</vt:lpstr>
      <vt:lpstr>Consolas</vt:lpstr>
      <vt:lpstr>Neue Haas Grotesk Text Pro</vt:lpstr>
      <vt:lpstr>Segoe UI</vt:lpstr>
      <vt:lpstr>Trebuchet MS</vt:lpstr>
      <vt:lpstr>Wingdings</vt:lpstr>
      <vt:lpstr>Office Theme</vt:lpstr>
      <vt:lpstr>Dune</vt:lpstr>
      <vt:lpstr>Dune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Adnan Sheikh</cp:lastModifiedBy>
  <cp:revision>3</cp:revision>
  <cp:lastPrinted>2026-08-19T09:50:47Z</cp:lastPrinted>
  <dcterms:created xsi:type="dcterms:W3CDTF">2026-08-19T09:50:47Z</dcterms:created>
  <dcterms:modified xsi:type="dcterms:W3CDTF">2026-08-19T12:25:30Z</dcterms:modified>
</cp:coreProperties>
</file>